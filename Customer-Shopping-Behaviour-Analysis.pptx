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11.svg" ContentType="image/svg+xml"/>
  <Override PartName="/ppt/media/image16.svg" ContentType="image/svg+xml"/>
  <Override PartName="/ppt/media/image19.svg" ContentType="image/svg+xml"/>
  <Override PartName="/ppt/media/image22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Instrument Sans Medium" pitchFamily="34" charset="0"/>
      <p:regular r:id="rId18"/>
    </p:embeddedFont>
    <p:embeddedFont>
      <p:font typeface="Instrument Sans Medium" pitchFamily="34" charset="-122"/>
      <p:regular r:id="rId19"/>
    </p:embeddedFont>
    <p:embeddedFont>
      <p:font typeface="Instrument Sans Medium" pitchFamily="34" charset="-120"/>
      <p:regular r:id="rId20"/>
    </p:embeddedFont>
    <p:embeddedFont>
      <p:font typeface="Open Sans" pitchFamily="34" charset="0"/>
      <p:bold r:id="rId21"/>
    </p:embeddedFont>
    <p:embeddedFont>
      <p:font typeface="Open Sans" pitchFamily="34" charset="-122"/>
      <p:bold r:id="rId22"/>
    </p:embeddedFont>
    <p:embeddedFont>
      <p:font typeface="Open Sans" pitchFamily="34" charset="-120"/>
      <p:bold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6160" cy="73406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44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661536" y="0"/>
            <a:ext cx="3566160" cy="73406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44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3896341"/>
            <a:ext cx="3566160" cy="7340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44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661536" y="13896341"/>
            <a:ext cx="3566160" cy="7340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4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tags" Target="../tags/tag3.xml"/><Relationship Id="rId23" Type="http://schemas.openxmlformats.org/officeDocument/2006/relationships/notesSlide" Target="../notesSlides/notesSlide3.xml"/><Relationship Id="rId22" Type="http://schemas.openxmlformats.org/officeDocument/2006/relationships/slideLayout" Target="../slideLayouts/slideLayout4.xml"/><Relationship Id="rId21" Type="http://schemas.openxmlformats.org/officeDocument/2006/relationships/tags" Target="../tags/tag15.xml"/><Relationship Id="rId20" Type="http://schemas.openxmlformats.org/officeDocument/2006/relationships/tags" Target="../tags/tag14.xml"/><Relationship Id="rId2" Type="http://schemas.openxmlformats.org/officeDocument/2006/relationships/tags" Target="../tags/tag2.xml"/><Relationship Id="rId19" Type="http://schemas.openxmlformats.org/officeDocument/2006/relationships/image" Target="../media/image11.svg"/><Relationship Id="rId18" Type="http://schemas.openxmlformats.org/officeDocument/2006/relationships/image" Target="../media/image10.png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image" Target="../media/image9.svg"/><Relationship Id="rId11" Type="http://schemas.openxmlformats.org/officeDocument/2006/relationships/image" Target="../media/image8.png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sv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8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46403"/>
            <a:ext cx="7556421" cy="56707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Shopping Behavio</a:t>
            </a:r>
            <a:r>
              <a:rPr lang="en-IN" altLang="en-US" sz="8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</a:t>
            </a:r>
            <a:r>
              <a:rPr lang="en-US" sz="8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 Analysis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6757273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95607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Scope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7136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Mission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852505"/>
            <a:ext cx="3501509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transactional data to uncover spending patterns, customer segments, product preferences, and subscription behavio</a:t>
            </a:r>
            <a:r>
              <a:rPr lang="en-IN" alt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</a:t>
            </a: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 across various categories.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27136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Dataset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3852505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3,900 customer transactions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4294703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data columns analyzed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4736902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Demographics, purchases, and behavio</a:t>
            </a:r>
            <a:r>
              <a:rPr lang="en-IN" alt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</a:t>
            </a: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 tracked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5956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Foundation</a:t>
            </a:r>
            <a:endParaRPr lang="en-US" sz="445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93790" y="3098363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3E3E3E"/>
          </a:solidFill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1020604" y="33251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5F547"/>
          </a:solidFill>
        </p:spPr>
      </p:sp>
      <p:pic>
        <p:nvPicPr>
          <p:cNvPr id="5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3512225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>
            <p:custDataLst>
              <p:tags r:id="rId6"/>
            </p:custDataLst>
          </p:nvPr>
        </p:nvSpPr>
        <p:spPr>
          <a:xfrm>
            <a:off x="1020604" y="4232434"/>
            <a:ext cx="331862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Demographics</a:t>
            </a:r>
            <a:endParaRPr lang="en-US" sz="2200" dirty="0"/>
          </a:p>
        </p:txBody>
      </p:sp>
      <p:sp>
        <p:nvSpPr>
          <p:cNvPr id="7" name="Text 4"/>
          <p:cNvSpPr/>
          <p:nvPr>
            <p:custDataLst>
              <p:tags r:id="rId7"/>
            </p:custDataLst>
          </p:nvPr>
        </p:nvSpPr>
        <p:spPr>
          <a:xfrm>
            <a:off x="1020604" y="4722852"/>
            <a:ext cx="374273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Age, gender, location, and subscription status</a:t>
            </a:r>
            <a:endParaRPr lang="en-US" sz="1750" dirty="0"/>
          </a:p>
        </p:txBody>
      </p:sp>
      <p:sp>
        <p:nvSpPr>
          <p:cNvPr id="8" name="Shape 5"/>
          <p:cNvSpPr/>
          <p:nvPr>
            <p:custDataLst>
              <p:tags r:id="rId8"/>
            </p:custDataLst>
          </p:nvPr>
        </p:nvSpPr>
        <p:spPr>
          <a:xfrm>
            <a:off x="5216962" y="3098363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3E3E3E"/>
          </a:solidFill>
        </p:spPr>
      </p:sp>
      <p:sp>
        <p:nvSpPr>
          <p:cNvPr id="9" name="Shape 6"/>
          <p:cNvSpPr/>
          <p:nvPr>
            <p:custDataLst>
              <p:tags r:id="rId9"/>
            </p:custDataLst>
          </p:nvPr>
        </p:nvSpPr>
        <p:spPr>
          <a:xfrm>
            <a:off x="5443776" y="33251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5F547"/>
          </a:solidFill>
        </p:spPr>
      </p:sp>
      <p:pic>
        <p:nvPicPr>
          <p:cNvPr id="10" name="Image 1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30942" y="3512225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>
            <p:custDataLst>
              <p:tags r:id="rId13"/>
            </p:custDataLst>
          </p:nvPr>
        </p:nvSpPr>
        <p:spPr>
          <a:xfrm>
            <a:off x="5443776" y="423243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Purchase Details</a:t>
            </a:r>
            <a:endParaRPr lang="en-US" sz="2200" dirty="0"/>
          </a:p>
        </p:txBody>
      </p:sp>
      <p:sp>
        <p:nvSpPr>
          <p:cNvPr id="12" name="Text 8"/>
          <p:cNvSpPr/>
          <p:nvPr>
            <p:custDataLst>
              <p:tags r:id="rId14"/>
            </p:custDataLst>
          </p:nvPr>
        </p:nvSpPr>
        <p:spPr>
          <a:xfrm>
            <a:off x="5443776" y="4722852"/>
            <a:ext cx="374273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Items, categories, amounts, seasons, sizes, and colors</a:t>
            </a:r>
            <a:endParaRPr lang="en-US" sz="1750" dirty="0"/>
          </a:p>
        </p:txBody>
      </p:sp>
      <p:sp>
        <p:nvSpPr>
          <p:cNvPr id="13" name="Shape 9"/>
          <p:cNvSpPr/>
          <p:nvPr>
            <p:custDataLst>
              <p:tags r:id="rId15"/>
            </p:custDataLst>
          </p:nvPr>
        </p:nvSpPr>
        <p:spPr>
          <a:xfrm>
            <a:off x="9640133" y="3098363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3E3E3E"/>
          </a:solidFill>
        </p:spPr>
      </p:sp>
      <p:sp>
        <p:nvSpPr>
          <p:cNvPr id="14" name="Shape 10"/>
          <p:cNvSpPr/>
          <p:nvPr>
            <p:custDataLst>
              <p:tags r:id="rId16"/>
            </p:custDataLst>
          </p:nvPr>
        </p:nvSpPr>
        <p:spPr>
          <a:xfrm>
            <a:off x="9866948" y="33251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5F547"/>
          </a:solidFill>
        </p:spPr>
      </p:sp>
      <p:pic>
        <p:nvPicPr>
          <p:cNvPr id="15" name="Image 2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054114" y="3512225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>
            <p:custDataLst>
              <p:tags r:id="rId20"/>
            </p:custDataLst>
          </p:nvPr>
        </p:nvSpPr>
        <p:spPr>
          <a:xfrm>
            <a:off x="9866948" y="423243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Shopping Behavio</a:t>
            </a:r>
            <a:r>
              <a:rPr lang="en-IN" alt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</a:t>
            </a: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</a:t>
            </a:r>
            <a:endParaRPr lang="en-US" sz="2200" dirty="0"/>
          </a:p>
        </p:txBody>
      </p:sp>
      <p:sp>
        <p:nvSpPr>
          <p:cNvPr id="17" name="Text 12"/>
          <p:cNvSpPr/>
          <p:nvPr>
            <p:custDataLst>
              <p:tags r:id="rId21"/>
            </p:custDataLst>
          </p:nvPr>
        </p:nvSpPr>
        <p:spPr>
          <a:xfrm>
            <a:off x="9866948" y="4722852"/>
            <a:ext cx="374273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Discounts, promo codes, purchase frequency, ratings, and shipping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5930622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Missing data: 37 values in Review Rating column were imputed using median ratings by product category.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32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562" y="538639"/>
            <a:ext cx="5767387" cy="612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Preparation Journey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85562" y="1444466"/>
            <a:ext cx="195858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5562" y="1754505"/>
            <a:ext cx="7772876" cy="22860"/>
          </a:xfrm>
          <a:prstGeom prst="rect">
            <a:avLst/>
          </a:prstGeom>
          <a:solidFill>
            <a:srgbClr val="F5F547"/>
          </a:solidFill>
        </p:spPr>
      </p:sp>
      <p:sp>
        <p:nvSpPr>
          <p:cNvPr id="6" name="Text 3"/>
          <p:cNvSpPr/>
          <p:nvPr/>
        </p:nvSpPr>
        <p:spPr>
          <a:xfrm>
            <a:off x="685562" y="1898094"/>
            <a:ext cx="31025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Loading &amp; Exploration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5562" y="2321600"/>
            <a:ext cx="7772876" cy="626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dataset using pandas, examined structure with df.info() and summary statistics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562" y="3291007"/>
            <a:ext cx="195858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562" y="3601045"/>
            <a:ext cx="7772876" cy="22860"/>
          </a:xfrm>
          <a:prstGeom prst="rect">
            <a:avLst/>
          </a:prstGeom>
          <a:solidFill>
            <a:srgbClr val="F5F547"/>
          </a:solidFill>
        </p:spPr>
      </p:sp>
      <p:sp>
        <p:nvSpPr>
          <p:cNvPr id="10" name="Text 7"/>
          <p:cNvSpPr/>
          <p:nvPr/>
        </p:nvSpPr>
        <p:spPr>
          <a:xfrm>
            <a:off x="685562" y="3744635"/>
            <a:ext cx="3112889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Cleaning &amp; Standardization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85562" y="4168140"/>
            <a:ext cx="7772876" cy="313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Handled missing values, renamed columns to snake_case for consistency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562" y="4824174"/>
            <a:ext cx="195858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5562" y="5134213"/>
            <a:ext cx="7772876" cy="22860"/>
          </a:xfrm>
          <a:prstGeom prst="rect">
            <a:avLst/>
          </a:prstGeom>
          <a:solidFill>
            <a:srgbClr val="F5F547"/>
          </a:solidFill>
        </p:spPr>
      </p:sp>
      <p:sp>
        <p:nvSpPr>
          <p:cNvPr id="14" name="Text 11"/>
          <p:cNvSpPr/>
          <p:nvPr/>
        </p:nvSpPr>
        <p:spPr>
          <a:xfrm>
            <a:off x="685562" y="5277803"/>
            <a:ext cx="244840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 Engineering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5562" y="5701308"/>
            <a:ext cx="7772876" cy="313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age_group bins and purchase_frequency_days columns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5562" y="6357342"/>
            <a:ext cx="195858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562" y="6667381"/>
            <a:ext cx="7772876" cy="22860"/>
          </a:xfrm>
          <a:prstGeom prst="rect">
            <a:avLst/>
          </a:prstGeom>
          <a:solidFill>
            <a:srgbClr val="F5F547"/>
          </a:solidFill>
        </p:spPr>
      </p:sp>
      <p:sp>
        <p:nvSpPr>
          <p:cNvPr id="18" name="Text 15"/>
          <p:cNvSpPr/>
          <p:nvPr/>
        </p:nvSpPr>
        <p:spPr>
          <a:xfrm>
            <a:off x="685562" y="6810970"/>
            <a:ext cx="244840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 Integration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85562" y="7234476"/>
            <a:ext cx="7772876" cy="313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to PostgreSQL and loaded cleaned data for SQL analysis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 Insights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2583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Gender Revenue Gap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959096" y="3062883"/>
            <a:ext cx="488501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 2.1x more revenue than female customers, representing a significant opportunity for targeted marketing strategies.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959096" y="4718566"/>
            <a:ext cx="48850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839 customers</a:t>
            </a: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used discounts but still spent above average purchase amounts.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3351"/>
            <a:ext cx="5706666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 Performance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95920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1F1F1F"/>
          </a:solidFill>
        </p:spPr>
      </p:sp>
      <p:sp>
        <p:nvSpPr>
          <p:cNvPr id="4" name="Shape 2"/>
          <p:cNvSpPr/>
          <p:nvPr/>
        </p:nvSpPr>
        <p:spPr>
          <a:xfrm>
            <a:off x="793790" y="256544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F5F547"/>
          </a:solidFill>
        </p:spPr>
      </p:sp>
      <p:sp>
        <p:nvSpPr>
          <p:cNvPr id="5" name="Shape 3"/>
          <p:cNvSpPr/>
          <p:nvPr/>
        </p:nvSpPr>
        <p:spPr>
          <a:xfrm>
            <a:off x="2551688" y="225575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5F547"/>
          </a:solidFill>
        </p:spPr>
      </p:sp>
      <p:sp>
        <p:nvSpPr>
          <p:cNvPr id="6" name="Text 4"/>
          <p:cNvSpPr/>
          <p:nvPr/>
        </p:nvSpPr>
        <p:spPr>
          <a:xfrm>
            <a:off x="2755761" y="2425898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16289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Gloves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653314"/>
            <a:ext cx="368177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Rating: 3.86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595920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1F1F1F"/>
          </a:solidFill>
        </p:spPr>
      </p:sp>
      <p:sp>
        <p:nvSpPr>
          <p:cNvPr id="10" name="Shape 8"/>
          <p:cNvSpPr/>
          <p:nvPr/>
        </p:nvSpPr>
        <p:spPr>
          <a:xfrm>
            <a:off x="5216962" y="256544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F5F547"/>
          </a:solidFill>
        </p:spPr>
      </p:sp>
      <p:sp>
        <p:nvSpPr>
          <p:cNvPr id="11" name="Shape 9"/>
          <p:cNvSpPr/>
          <p:nvPr/>
        </p:nvSpPr>
        <p:spPr>
          <a:xfrm>
            <a:off x="6974860" y="225575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5F547"/>
          </a:solidFill>
        </p:spPr>
      </p:sp>
      <p:sp>
        <p:nvSpPr>
          <p:cNvPr id="12" name="Text 10"/>
          <p:cNvSpPr/>
          <p:nvPr/>
        </p:nvSpPr>
        <p:spPr>
          <a:xfrm>
            <a:off x="7178933" y="2425898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316289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Sandals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3653314"/>
            <a:ext cx="368177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Rating: 3.84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595920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1F1F1F"/>
          </a:solidFill>
        </p:spPr>
      </p:sp>
      <p:sp>
        <p:nvSpPr>
          <p:cNvPr id="16" name="Shape 14"/>
          <p:cNvSpPr/>
          <p:nvPr/>
        </p:nvSpPr>
        <p:spPr>
          <a:xfrm>
            <a:off x="9640133" y="256544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F5F547"/>
          </a:solidFill>
        </p:spPr>
      </p:sp>
      <p:sp>
        <p:nvSpPr>
          <p:cNvPr id="17" name="Shape 15"/>
          <p:cNvSpPr/>
          <p:nvPr/>
        </p:nvSpPr>
        <p:spPr>
          <a:xfrm>
            <a:off x="11398032" y="225575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5F547"/>
          </a:solidFill>
        </p:spPr>
      </p:sp>
      <p:sp>
        <p:nvSpPr>
          <p:cNvPr id="18" name="Text 16"/>
          <p:cNvSpPr/>
          <p:nvPr/>
        </p:nvSpPr>
        <p:spPr>
          <a:xfrm>
            <a:off x="11602105" y="2425898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316289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Boots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3653314"/>
            <a:ext cx="368177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Rating: 3.82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4840486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1F1F1F"/>
          </a:solidFill>
        </p:spPr>
      </p:sp>
      <p:sp>
        <p:nvSpPr>
          <p:cNvPr id="22" name="Shape 20"/>
          <p:cNvSpPr/>
          <p:nvPr/>
        </p:nvSpPr>
        <p:spPr>
          <a:xfrm>
            <a:off x="793790" y="4810006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F5F547"/>
          </a:solidFill>
        </p:spPr>
      </p:sp>
      <p:sp>
        <p:nvSpPr>
          <p:cNvPr id="23" name="Shape 21"/>
          <p:cNvSpPr/>
          <p:nvPr/>
        </p:nvSpPr>
        <p:spPr>
          <a:xfrm>
            <a:off x="3657540" y="450032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5F547"/>
          </a:solidFill>
        </p:spPr>
      </p:sp>
      <p:sp>
        <p:nvSpPr>
          <p:cNvPr id="24" name="Text 22"/>
          <p:cNvSpPr/>
          <p:nvPr/>
        </p:nvSpPr>
        <p:spPr>
          <a:xfrm>
            <a:off x="3861614" y="4670465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51084" y="540746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51084" y="5897880"/>
            <a:ext cx="589335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Rating: 3.80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428548" y="4840486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1F1F1F"/>
          </a:solidFill>
        </p:spPr>
      </p:sp>
      <p:sp>
        <p:nvSpPr>
          <p:cNvPr id="28" name="Shape 26"/>
          <p:cNvSpPr/>
          <p:nvPr/>
        </p:nvSpPr>
        <p:spPr>
          <a:xfrm>
            <a:off x="7428548" y="4810006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F5F547"/>
          </a:solidFill>
        </p:spPr>
      </p:sp>
      <p:sp>
        <p:nvSpPr>
          <p:cNvPr id="29" name="Shape 27"/>
          <p:cNvSpPr/>
          <p:nvPr/>
        </p:nvSpPr>
        <p:spPr>
          <a:xfrm>
            <a:off x="10292298" y="450032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5F547"/>
          </a:solidFill>
        </p:spPr>
      </p:sp>
      <p:sp>
        <p:nvSpPr>
          <p:cNvPr id="30" name="Text 28"/>
          <p:cNvSpPr/>
          <p:nvPr/>
        </p:nvSpPr>
        <p:spPr>
          <a:xfrm>
            <a:off x="10496371" y="4670465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685842" y="540746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Skirt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85842" y="5897880"/>
            <a:ext cx="589335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Rating: 3.78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793790" y="6773228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shipping customers spend $2.02 more on average ($60.48) compared to Standard shipping ($58.46).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0571"/>
            <a:ext cx="651569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Segmentation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352925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Loyal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19669"/>
            <a:ext cx="37852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3,116 customers</a:t>
            </a: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(79.9%)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18660"/>
            <a:ext cx="37852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Backbone of revenue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7717" y="4035623"/>
            <a:ext cx="339328" cy="339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230302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790" y="2793444"/>
            <a:ext cx="3898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701 customers</a:t>
            </a: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(18.0%)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9937790" y="3292435"/>
            <a:ext cx="3898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Growth opportunity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4326" y="2651998"/>
            <a:ext cx="339328" cy="3393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37790" y="475559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937790" y="5246013"/>
            <a:ext cx="3898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 customers</a:t>
            </a: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(2.1%)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9937790" y="5745004"/>
            <a:ext cx="3898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potential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44326" y="5419249"/>
            <a:ext cx="339328" cy="33932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customers with &gt;5 purchases, 958 are subscribers while 2,518 are not—indicating untapped subscription potential among repeat buyers.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5021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Subscription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92460"/>
            <a:ext cx="2980611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1,053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866418" y="452425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Subscribers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105400"/>
            <a:ext cx="298061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spend: $59.49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057888" y="3492460"/>
            <a:ext cx="2980611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2,847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130516" y="452425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Non-Subscribers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057888" y="5105400"/>
            <a:ext cx="298061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spend: $59.87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35077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Opportunity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3931920"/>
            <a:ext cx="62447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Non-subscribers slightly outspend subscribers but represent 73% of the customer base. Converting even 10% could add $17,000+ in revenue.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224701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Subscribers generate $62,645 total revenue vs. $170,436 from non-subscribers.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6138" y="421243"/>
            <a:ext cx="5740241" cy="478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 Group Revenue Distribution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138" y="1206341"/>
            <a:ext cx="13558123" cy="75924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6138" y="8971121"/>
            <a:ext cx="13558123" cy="2451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adults lead revenue generation, but all age groups contribute relatively evenly—suggesting broad market appeal and opportunities for age-specific campaigns.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02230"/>
            <a:ext cx="752665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4812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38543"/>
            <a:ext cx="304800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benefits to convert repeat buyers into subscribers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125278" y="404812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25278" y="4538543"/>
            <a:ext cx="304811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strengthen the loyal customer segment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56884" y="404812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Review Discounts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4538543"/>
            <a:ext cx="304811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boosts with margin control for sustainable growth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788491" y="404812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8491" y="4538543"/>
            <a:ext cx="304811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age groups and express-shipping users</a:t>
            </a:r>
            <a:endParaRPr lang="en-US" sz="17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2.92188976377952,&quot;left&quot;:62.50314960629921,&quot;top&quot;:243.9655905511811,&quot;width&quot;:1026.9843307086612}"/>
</p:tagLst>
</file>

<file path=ppt/tags/tag2.xml><?xml version="1.0" encoding="utf-8"?>
<p:tagLst xmlns:p="http://schemas.openxmlformats.org/presentationml/2006/main">
  <p:tag name="KSO_WM_DIAGRAM_VIRTUALLY_FRAME" val="{&quot;height&quot;:202.92188976377952,&quot;left&quot;:62.50314960629921,&quot;top&quot;:243.9655905511811,&quot;width&quot;:1026.9843307086612}"/>
</p:tagLst>
</file>

<file path=ppt/tags/tag3.xml><?xml version="1.0" encoding="utf-8"?>
<p:tagLst xmlns:p="http://schemas.openxmlformats.org/presentationml/2006/main">
  <p:tag name="KSO_WM_DIAGRAM_VIRTUALLY_FRAME" val="{&quot;height&quot;:202.92188976377952,&quot;left&quot;:62.50314960629921,&quot;top&quot;:243.9655905511811,&quot;width&quot;:1026.9843307086612}"/>
</p:tagLst>
</file>

<file path=ppt/tags/tag4.xml><?xml version="1.0" encoding="utf-8"?>
<p:tagLst xmlns:p="http://schemas.openxmlformats.org/presentationml/2006/main">
  <p:tag name="KSO_WM_DIAGRAM_VIRTUALLY_FRAME" val="{&quot;height&quot;:202.92188976377952,&quot;left&quot;:62.50314960629921,&quot;top&quot;:243.9655905511811,&quot;width&quot;:1026.9843307086612}"/>
</p:tagLst>
</file>

<file path=ppt/tags/tag5.xml><?xml version="1.0" encoding="utf-8"?>
<p:tagLst xmlns:p="http://schemas.openxmlformats.org/presentationml/2006/main">
  <p:tag name="KSO_WM_DIAGRAM_VIRTUALLY_FRAME" val="{&quot;height&quot;:202.92188976377952,&quot;left&quot;:62.50314960629921,&quot;top&quot;:243.9655905511811,&quot;width&quot;:1026.9843307086612}"/>
</p:tagLst>
</file>

<file path=ppt/tags/tag6.xml><?xml version="1.0" encoding="utf-8"?>
<p:tagLst xmlns:p="http://schemas.openxmlformats.org/presentationml/2006/main">
  <p:tag name="KSO_WM_DIAGRAM_VIRTUALLY_FRAME" val="{&quot;height&quot;:202.92188976377952,&quot;left&quot;:62.50314960629921,&quot;top&quot;:243.9655905511811,&quot;width&quot;:1026.9843307086612}"/>
</p:tagLst>
</file>

<file path=ppt/tags/tag7.xml><?xml version="1.0" encoding="utf-8"?>
<p:tagLst xmlns:p="http://schemas.openxmlformats.org/presentationml/2006/main">
  <p:tag name="KSO_WM_DIAGRAM_VIRTUALLY_FRAME" val="{&quot;height&quot;:202.92188976377952,&quot;left&quot;:62.50314960629921,&quot;top&quot;:243.9655905511811,&quot;width&quot;:1026.9843307086612}"/>
</p:tagLst>
</file>

<file path=ppt/tags/tag8.xml><?xml version="1.0" encoding="utf-8"?>
<p:tagLst xmlns:p="http://schemas.openxmlformats.org/presentationml/2006/main">
  <p:tag name="KSO_WM_DIAGRAM_VIRTUALLY_FRAME" val="{&quot;height&quot;:202.92188976377952,&quot;left&quot;:62.50314960629921,&quot;top&quot;:243.9655905511811,&quot;width&quot;:1026.9843307086612}"/>
</p:tagLst>
</file>

<file path=ppt/tags/tag9.xml><?xml version="1.0" encoding="utf-8"?>
<p:tagLst xmlns:p="http://schemas.openxmlformats.org/presentationml/2006/main">
  <p:tag name="KSO_WM_DIAGRAM_VIRTUALLY_FRAME" val="{&quot;height&quot;:202.92188976377952,&quot;left&quot;:62.50314960629921,&quot;top&quot;:243.9655905511811,&quot;width&quot;:1026.9843307086612}"/>
</p:tagLst>
</file>

<file path=ppt/tags/tag10.xml><?xml version="1.0" encoding="utf-8"?>
<p:tagLst xmlns:p="http://schemas.openxmlformats.org/presentationml/2006/main">
  <p:tag name="KSO_WM_DIAGRAM_VIRTUALLY_FRAME" val="{&quot;height&quot;:202.92188976377952,&quot;left&quot;:62.50314960629921,&quot;top&quot;:243.9655905511811,&quot;width&quot;:1026.9843307086612}"/>
</p:tagLst>
</file>

<file path=ppt/tags/tag11.xml><?xml version="1.0" encoding="utf-8"?>
<p:tagLst xmlns:p="http://schemas.openxmlformats.org/presentationml/2006/main">
  <p:tag name="KSO_WM_DIAGRAM_VIRTUALLY_FRAME" val="{&quot;height&quot;:202.92188976377952,&quot;left&quot;:62.50314960629921,&quot;top&quot;:243.9655905511811,&quot;width&quot;:1026.9843307086612}"/>
</p:tagLst>
</file>

<file path=ppt/tags/tag12.xml><?xml version="1.0" encoding="utf-8"?>
<p:tagLst xmlns:p="http://schemas.openxmlformats.org/presentationml/2006/main">
  <p:tag name="KSO_WM_DIAGRAM_VIRTUALLY_FRAME" val="{&quot;height&quot;:202.92188976377952,&quot;left&quot;:62.50314960629921,&quot;top&quot;:243.9655905511811,&quot;width&quot;:1026.9843307086612}"/>
</p:tagLst>
</file>

<file path=ppt/tags/tag13.xml><?xml version="1.0" encoding="utf-8"?>
<p:tagLst xmlns:p="http://schemas.openxmlformats.org/presentationml/2006/main">
  <p:tag name="KSO_WM_DIAGRAM_VIRTUALLY_FRAME" val="{&quot;height&quot;:202.92188976377952,&quot;left&quot;:62.50314960629921,&quot;top&quot;:243.9655905511811,&quot;width&quot;:1026.9843307086612}"/>
</p:tagLst>
</file>

<file path=ppt/tags/tag14.xml><?xml version="1.0" encoding="utf-8"?>
<p:tagLst xmlns:p="http://schemas.openxmlformats.org/presentationml/2006/main">
  <p:tag name="KSO_WM_DIAGRAM_VIRTUALLY_FRAME" val="{&quot;height&quot;:202.92188976377952,&quot;left&quot;:62.50314960629921,&quot;top&quot;:243.9655905511811,&quot;width&quot;:1026.9843307086612}"/>
</p:tagLst>
</file>

<file path=ppt/tags/tag15.xml><?xml version="1.0" encoding="utf-8"?>
<p:tagLst xmlns:p="http://schemas.openxmlformats.org/presentationml/2006/main">
  <p:tag name="KSO_WM_DIAGRAM_VIRTUALLY_FRAME" val="{&quot;height&quot;:202.92188976377952,&quot;left&quot;:62.50314960629921,&quot;top&quot;:243.9655905511811,&quot;width&quot;:1026.984330708661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2748</Words>
  <Application>WPS Presentation</Application>
  <PresentationFormat>On-screen Show (16:9)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Instrument Sans Medium</vt:lpstr>
      <vt:lpstr>Instrument Sans Medium</vt:lpstr>
      <vt:lpstr>Instrument Sans Medium</vt:lpstr>
      <vt:lpstr>Open Sans</vt:lpstr>
      <vt:lpstr>Open Sans</vt:lpstr>
      <vt:lpstr>Open Sans</vt:lpstr>
      <vt:lpstr>Instrument Sans Light</vt:lpstr>
      <vt:lpstr>AMGDT</vt:lpstr>
      <vt:lpstr>Instrument Sans Light</vt:lpstr>
      <vt:lpstr>Instrument Sans Light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Sreekanth</cp:lastModifiedBy>
  <cp:revision>2</cp:revision>
  <dcterms:created xsi:type="dcterms:W3CDTF">2025-10-21T06:42:00Z</dcterms:created>
  <dcterms:modified xsi:type="dcterms:W3CDTF">2026-01-04T20:39:07Z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BACCBF83EE9346539B22920B1073E5A4_12</vt:lpwstr>
  </property>
  <property fmtid="{D5CDD505-2E9C-101B-9397-08002B2CF9AE}" pid="3" name="KSOProductBuildVer">
    <vt:lpwstr>1033-12.2.0.23196</vt:lpwstr>
  </property>
</Properties>
</file>